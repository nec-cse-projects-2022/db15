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8" r:id="rId2"/>
    <p:sldId id="281" r:id="rId3"/>
    <p:sldId id="260" r:id="rId4"/>
    <p:sldId id="262" r:id="rId5"/>
    <p:sldId id="279" r:id="rId6"/>
    <p:sldId id="285" r:id="rId7"/>
    <p:sldId id="263" r:id="rId8"/>
    <p:sldId id="280" r:id="rId9"/>
    <p:sldId id="286" r:id="rId10"/>
    <p:sldId id="265" r:id="rId11"/>
    <p:sldId id="270" r:id="rId12"/>
    <p:sldId id="266" r:id="rId13"/>
    <p:sldId id="268" r:id="rId14"/>
    <p:sldId id="269" r:id="rId15"/>
    <p:sldId id="283" r:id="rId16"/>
    <p:sldId id="284" r:id="rId17"/>
    <p:sldId id="287" r:id="rId18"/>
    <p:sldId id="288" r:id="rId19"/>
    <p:sldId id="289" r:id="rId20"/>
    <p:sldId id="290" r:id="rId21"/>
    <p:sldId id="291" r:id="rId22"/>
    <p:sldId id="30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75" r:id="rId31"/>
    <p:sldId id="2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99655-05E8-4463-9482-2D23FD405AF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9CC48-2212-46F0-B96C-6F8104E8243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38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8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E0E28-087F-4BBF-B8BC-055CB0BBD464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E3DF0-35B4-40E5-AC91-1A2000F8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E3DF0-35B4-40E5-AC91-1A2000F8127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83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E3DF0-35B4-40E5-AC91-1A2000F8127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921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8F0A-825B-43EC-9CD7-118F126DA1B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5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803B-62AD-4010-AEFB-D9AF802A649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206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F212-5EE0-4AA8-AA52-1AD4716B5520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7AD5-9516-4803-9B8F-64EFE6B04E97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9F5-3ACF-4602-91F2-584ADA347226}" type="datetime1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27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2DEC-E61F-415A-BB11-622ACF22FA82}" type="datetime1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1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EEC6-0141-45B7-8835-252B848F88BA}" type="datetime1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116E-6FF0-4C6D-8DFD-00263320DEBD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6E4B8-84AF-4AF2-B62C-BFAB3810F0B1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7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D04C-3771-42DE-9B65-7B6404FB4859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1216-7DD8-4439-BE7B-781B8BCB2E48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0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7CF1-9FF6-48D4-89E7-B1B5528DDDD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No.         Batch No.           Department of CSE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1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 txBox="1">
            <a:spLocks/>
          </p:cNvSpPr>
          <p:nvPr/>
        </p:nvSpPr>
        <p:spPr>
          <a:xfrm>
            <a:off x="2209800" y="-84238"/>
            <a:ext cx="8915400" cy="375925"/>
          </a:xfrm>
          <a:prstGeom prst="roundRect">
            <a:avLst>
              <a:gd name="adj" fmla="val 16667"/>
            </a:avLst>
          </a:prstGeom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endParaRPr lang="en-US" sz="2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169043" y="937549"/>
            <a:ext cx="9729111" cy="2369629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  <p:sp>
        <p:nvSpPr>
          <p:cNvPr id="20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 Department of CSE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86671-3454-BE99-53EC-9567DE520EB3}"/>
              </a:ext>
            </a:extLst>
          </p:cNvPr>
          <p:cNvSpPr txBox="1"/>
          <p:nvPr/>
        </p:nvSpPr>
        <p:spPr>
          <a:xfrm>
            <a:off x="4259484" y="2720299"/>
            <a:ext cx="3763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en-IN" sz="4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7F47D77-1D44-55DF-C3F5-80F68B8C7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5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9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 txBox="1">
            <a:spLocks/>
          </p:cNvSpPr>
          <p:nvPr/>
        </p:nvSpPr>
        <p:spPr>
          <a:xfrm>
            <a:off x="1754154" y="705471"/>
            <a:ext cx="8915400" cy="375925"/>
          </a:xfrm>
          <a:prstGeom prst="roundRect">
            <a:avLst>
              <a:gd name="adj" fmla="val 16667"/>
            </a:avLst>
          </a:prstGeom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Department of Computer Science and Engineering</a:t>
            </a:r>
          </a:p>
          <a:p>
            <a:pPr algn="ctr">
              <a:spcBef>
                <a:spcPct val="20000"/>
              </a:spcBef>
              <a:defRPr/>
            </a:pPr>
            <a:r>
              <a:rPr lang="en-I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Sleep </a:t>
            </a:r>
            <a:r>
              <a:rPr lang="en-IN" sz="24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Disorder:Sleep</a:t>
            </a:r>
            <a:r>
              <a:rPr lang="en-I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Disorder Detection Using Deep Learning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And Genetic Algorithm Optimization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754154" y="1966120"/>
            <a:ext cx="9144000" cy="134105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	     B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. Sarath Chandra	(23475A0510)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		    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itchFamily="18" charset="0"/>
              </a:rPr>
              <a:t>K,Sai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itchFamily="18" charset="0"/>
              </a:rPr>
              <a:t>manikanta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(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22471A05O8)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897154" y="3429000"/>
            <a:ext cx="6858000" cy="258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itchFamily="18" charset="0"/>
              </a:rPr>
              <a:t>Under the Guidance of,</a:t>
            </a:r>
            <a:endParaRPr lang="en-US" altLang="en-US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altLang="en-US" sz="9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b="1" kern="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M.Suresh</a:t>
            </a:r>
            <a:r>
              <a:rPr 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M.Tech</a:t>
            </a:r>
            <a:r>
              <a:rPr lang="en-US" b="1" kern="1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800" b="1" kern="100" baseline="-25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r>
              <a:rPr lang="en-US" sz="16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Narasaraopeta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Engineering College (Autonomous),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Narasaraopet- 522 601.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  <p:sp>
        <p:nvSpPr>
          <p:cNvPr id="20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 Department of CSE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334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73486"/>
            <a:ext cx="10173182" cy="81055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158" y="1274193"/>
            <a:ext cx="10534917" cy="508215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75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-94129"/>
            <a:ext cx="10173182" cy="15872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447"/>
            <a:ext cx="10515600" cy="45364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This project focuses on </a:t>
            </a:r>
            <a:r>
              <a:rPr lang="en-US" sz="2400" b="1" dirty="0"/>
              <a:t>automated detection of sleep disorders</a:t>
            </a:r>
            <a:r>
              <a:rPr lang="en-US" sz="2400" dirty="0"/>
              <a:t> such as </a:t>
            </a:r>
            <a:r>
              <a:rPr lang="en-US" sz="2400" b="1" dirty="0"/>
              <a:t>Sleep Apnea and Insomnia</a:t>
            </a:r>
            <a:r>
              <a:rPr lang="en-US" sz="2400" dirty="0"/>
              <a:t> using </a:t>
            </a:r>
            <a:r>
              <a:rPr lang="en-US" sz="2400" b="1" dirty="0"/>
              <a:t>Deep Learning and Genetic Algorithm (GA)</a:t>
            </a:r>
            <a:r>
              <a:rPr lang="en-US" sz="2400" dirty="0"/>
              <a:t> optimization.</a:t>
            </a:r>
          </a:p>
          <a:p>
            <a:pPr algn="just"/>
            <a:r>
              <a:rPr lang="en-US" sz="2400" dirty="0"/>
              <a:t>The study uses the </a:t>
            </a:r>
            <a:r>
              <a:rPr lang="en-US" sz="2400" b="1" dirty="0"/>
              <a:t>Sleep Health and Lifestyle Dataset</a:t>
            </a:r>
            <a:r>
              <a:rPr lang="en-US" sz="2400" dirty="0"/>
              <a:t> with </a:t>
            </a:r>
            <a:r>
              <a:rPr lang="en-US" sz="2400" b="1" dirty="0"/>
              <a:t>400 records and 13 attributes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Data preprocessing includes </a:t>
            </a:r>
            <a:r>
              <a:rPr lang="en-US" sz="2400" b="1" dirty="0"/>
              <a:t>label encoding, feature scaling, and blood pressure transformation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Three models—</a:t>
            </a:r>
            <a:r>
              <a:rPr lang="en-US" sz="2400" b="1" dirty="0"/>
              <a:t>Artificial Neural Network (ANN)</a:t>
            </a:r>
            <a:r>
              <a:rPr lang="en-US" sz="2400" dirty="0"/>
              <a:t>, </a:t>
            </a:r>
            <a:r>
              <a:rPr lang="en-US" sz="2400" b="1" dirty="0"/>
              <a:t>Random Forest</a:t>
            </a:r>
            <a:r>
              <a:rPr lang="en-US" sz="2400" dirty="0"/>
              <a:t>, and </a:t>
            </a:r>
            <a:r>
              <a:rPr lang="en-US" sz="2400" b="1" dirty="0" err="1"/>
              <a:t>XGBoost</a:t>
            </a:r>
            <a:r>
              <a:rPr lang="en-US" sz="2400" dirty="0"/>
              <a:t>—were evaluated</a:t>
            </a:r>
          </a:p>
          <a:p>
            <a:pPr algn="just"/>
            <a:r>
              <a:rPr lang="en-US" sz="2400" dirty="0"/>
              <a:t>The </a:t>
            </a:r>
            <a:r>
              <a:rPr lang="en-US" sz="2400" b="1" dirty="0"/>
              <a:t>ANN achieved the highest accuracy (94.17%)</a:t>
            </a:r>
            <a:r>
              <a:rPr lang="en-US" sz="2400" dirty="0"/>
              <a:t>, demonstrating the potential of deep learning for healthcare diagnostics</a:t>
            </a:r>
          </a:p>
          <a:p>
            <a:pPr algn="just"/>
            <a:r>
              <a:rPr lang="en-US" sz="2400" dirty="0"/>
              <a:t>These findings highlight the role of deep models in </a:t>
            </a:r>
            <a:r>
              <a:rPr lang="en-US" sz="2400" b="1" dirty="0"/>
              <a:t>accurate, scalable, and automated sleep disorder detection systems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DB 15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10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CC61-2FD5-F3C7-B1EB-A4233456C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423" y="1665226"/>
            <a:ext cx="998630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disorders negatively impact daily functioning, cognition, and overall health.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diagnostic methods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manual, slow, and inconsistent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and Deep Learning offer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automated, real-time diagnosis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assist healthcare professionals.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leverages data-driven analysis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sleep disorders efficiently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enhance diagnostic accuracy and reduce dependency on manual interpretation.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healthcare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device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347575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Batch No.  DB 15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645221"/>
              </p:ext>
            </p:extLst>
          </p:nvPr>
        </p:nvGraphicFramePr>
        <p:xfrm>
          <a:off x="838200" y="883748"/>
          <a:ext cx="11126272" cy="545286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82114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1860768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1803042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1545465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983346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1622738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5718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145804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New Oversampling Approaches Based on Polynomial Fitting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Sami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Gazzah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Najoua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E.B. Amara,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2008, IEEE 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Curve-fitting in feature 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True Positive Rate using writer-style curves.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limited to handwriting dataset; no deep model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1565112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SMOTE: Synthetic Minority Over-sampling Technique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N.V. Chawla et al., 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2002, IEEE AI Review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KNN-based sample interpolation.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synthetic sample creation to address imbalance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synthetic sample creation to address imbalance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  <a:tr h="185059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FullSleepNet</a:t>
                      </a:r>
                      <a:r>
                        <a:rPr lang="en-US" sz="1400" dirty="0"/>
                        <a:t>: A Fully Convolutional Multi-Task Network for Arousal Detection and Sleep Stage Classification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Zan &amp; Yildiz,  </a:t>
                      </a:r>
                      <a:r>
                        <a:rPr lang="en-IN" sz="1400" dirty="0" err="1"/>
                        <a:t>arXiv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2024,IEEE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EEG normalization, temporal windowing, feature scaling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Combined arousal and stage classification in one model; achieved </a:t>
                      </a:r>
                      <a:r>
                        <a:rPr lang="en-US" sz="1400" b="1" dirty="0"/>
                        <a:t>88% accuracy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0.70 AUPRC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Requires large labeled EEG datasets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 high computational cost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09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27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256957"/>
              </p:ext>
            </p:extLst>
          </p:nvPr>
        </p:nvGraphicFramePr>
        <p:xfrm>
          <a:off x="838201" y="1058503"/>
          <a:ext cx="10667999" cy="452924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99515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1916206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1596838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1647266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928781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1483516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1495877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5110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</a:t>
                      </a:r>
                      <a:r>
                        <a:rPr lang="en-US" sz="1600" baseline="0">
                          <a:solidFill>
                            <a:schemeClr val="tx1"/>
                          </a:solidFill>
                        </a:rPr>
                        <a:t> Name &amp; Year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17752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RB-CCR: Radial-Based Combined Cleaning and Resampling Algorithm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Michał Koziarski et al., 2021, IEEE DSAA 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  <a:p>
                      <a:pPr algn="ctr"/>
                      <a:endParaRPr lang="en-IN" sz="1400" dirty="0"/>
                    </a:p>
                    <a:p>
                      <a:pPr algn="ctr"/>
                      <a:endParaRPr lang="en-IN" sz="1400" dirty="0"/>
                    </a:p>
                    <a:p>
                      <a:pPr algn="ctr"/>
                      <a:r>
                        <a:rPr lang="en-IN" sz="1400" dirty="0"/>
                        <a:t>2021, IEEE DSAA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  <a:p>
                      <a:pPr algn="ctr"/>
                      <a:r>
                        <a:rPr lang="en-US" sz="1400" dirty="0"/>
                        <a:t>Energy-based instance cleaning, Class potential estimation using Radial Basis Function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  <a:p>
                      <a:pPr algn="ctr"/>
                      <a:r>
                        <a:rPr lang="en-US" sz="1400" dirty="0"/>
                        <a:t>Class potential used to guide oversampling; achieves better G-mean &amp; AUC than CCR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Region selection needs cross-validation; no explicit noise handling</a:t>
                      </a:r>
                      <a:endParaRPr lang="en-US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215180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Synthetic Oversampling for Twitter Imbalanced Sentiment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ules Ah-Pine and Edwin-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Piero Soriano-Morales,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2019, Published in the 2019 International Conference on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NLP text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cleaning (tokenization, lowercasing); class balancing via synthetic oversampling techniques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SMOTE,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ADASYN, and Borderline- SMOTE on Twitter datasets; ADASYN gave more stable results.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3 datasets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traditional classifiers; doesn’t explore deep learning models or real-time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2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Batch No.  DB 15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150773"/>
              </p:ext>
            </p:extLst>
          </p:nvPr>
        </p:nvGraphicFramePr>
        <p:xfrm>
          <a:off x="838200" y="1106667"/>
          <a:ext cx="10817505" cy="492663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8735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2082242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1619217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1670352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724860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1692853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1559246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575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1576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Handling Imbalanced Datasets by Partially Guided Hybrid Sampling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Tushar Sandhan, Jin Young Choi,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2014, IEEE ICPR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space projection, PCA &amp; Kernel PCA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guided oversampling; improves minority retention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complexity; not tested in online settings.</a:t>
                      </a:r>
                      <a:endParaRPr lang="en-US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135042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Over-Sampling Based on Data Density &amp; Cost- Sensitive 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Qinghua Cao et al., 2011, IEEE ICIII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2011, IEEE ICIII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OPTICS-based density estimation, noise filtering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SMOBD uses density to avoid noisy samples; outperforms SMOTE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Density tuning is dataset- specific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  <a:tr h="142077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Imbalance Problem in Text Classification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Yanling Li et al.,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2010, IEEE Info. Processing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 length, word frequency, class size balancing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size and word count directly affect accuracy.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suggest balancing techniques; dataset domain-specific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09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40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 DB 15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492C34-DF62-E3B9-3F6C-997B49ACC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60074"/>
              </p:ext>
            </p:extLst>
          </p:nvPr>
        </p:nvGraphicFramePr>
        <p:xfrm>
          <a:off x="838200" y="1079680"/>
          <a:ext cx="10817505" cy="373312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8735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2082242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1619217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1670352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724860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1692853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1559246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5733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156904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SleepLiteCNN</a:t>
                      </a:r>
                      <a:r>
                        <a:rPr lang="en-US" sz="1400" dirty="0"/>
                        <a:t>: Energy-Efficient Sleep Apnea Subtype Classification Using Single-Lead EC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Mohammadi &amp; Mohammadi, </a:t>
                      </a:r>
                      <a:r>
                        <a:rPr lang="en-IN" sz="1400" dirty="0" err="1"/>
                        <a:t>arXiv</a:t>
                      </a:r>
                      <a:endParaRPr lang="en-IN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2025,IEEE</a:t>
                      </a:r>
                    </a:p>
                    <a:p>
                      <a:pPr algn="ctr"/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ECG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filteration</a:t>
                      </a:r>
                      <a:r>
                        <a:rPr lang="en-IN" sz="1400" dirty="0"/>
                        <a:t>, normalization, quantization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95% accuracy with 92% F1-score; efficient for wearable systems</a:t>
                      </a:r>
                      <a:endParaRPr lang="en-IN" sz="1400" dirty="0"/>
                    </a:p>
                    <a:p>
                      <a:pPr algn="l">
                        <a:buNone/>
                      </a:pP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Tested on limited ECG data; lacks multimodal input</a:t>
                      </a:r>
                      <a:endParaRPr lang="en-US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132206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Multimodal Vision Transformer for Sleep Stage and Apnea Detection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dirty="0"/>
                        <a:t>Kazemi et 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.2025, </a:t>
                      </a:r>
                      <a:r>
                        <a:rPr lang="en-IN" sz="1400" dirty="0" err="1"/>
                        <a:t>arXiv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Signal segmentation, feature fusion, scaling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Accuracy of 78% (staging) and 74% (apnea detection); model interpretability through attention weights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/>
                        <a:t>Requires multiple sensor inputs; complex deployment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98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18" y="381884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 DB 15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6D1421-7084-53E5-E117-8AFB14A63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129" y="1536174"/>
            <a:ext cx="106954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datasets with small sample sizes restrict model generalization.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prior works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modalities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(EEG, ECG) rather than              lifestyle-based analysis.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Few models emphasize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implementation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     wearable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Optimization techniques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Algorithms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underexplored for     sleep data improvement.</a:t>
            </a:r>
          </a:p>
        </p:txBody>
      </p:sp>
    </p:spTree>
    <p:extLst>
      <p:ext uri="{BB962C8B-B14F-4D97-AF65-F5344CB8AC3E}">
        <p14:creationId xmlns:p14="http://schemas.microsoft.com/office/powerpoint/2010/main" val="171316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740" y="136525"/>
            <a:ext cx="9637059" cy="13566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E804B3-8E08-648E-3D47-4E388FDF6E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9896"/>
            <a:ext cx="963705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disorders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Insomnia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Apnea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affect   health, performance, and quality of life.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diagnostic methods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polysomnography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manual, expensive, and time-consuming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requiring specialized sleep labs and expert interpretation.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accessible and automated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detecting sleep disorders using easily available health and lifestyle parameters.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aims to 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Learning–based automated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classifies sleep disorders accurately from lifestyle and physiological data.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further enhance model performance,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Algorithm (GA)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to improve accuracy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259738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68094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27-12-2024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789C68-F1A3-877D-F1DB-74144FFF7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5045" y="1175299"/>
            <a:ext cx="868190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ANN, Random Forest,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sleep disorder classification.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Algorithm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model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and feature transformation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and evaluate models using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Precision, Recall, F1-score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framework that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healthcare automation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123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27-12-2024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3DC711F-DE1E-CACA-1336-686AE5B2C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42" y="1867190"/>
            <a:ext cx="4931516" cy="4351338"/>
          </a:xfrm>
        </p:spPr>
      </p:pic>
    </p:spTree>
    <p:extLst>
      <p:ext uri="{BB962C8B-B14F-4D97-AF65-F5344CB8AC3E}">
        <p14:creationId xmlns:p14="http://schemas.microsoft.com/office/powerpoint/2010/main" val="213702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509" y="0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839D7-C322-78C3-230F-3B6D4C28B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309" y="866220"/>
            <a:ext cx="10891777" cy="5734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Pre-Processing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Step 1: Data Collection</a:t>
            </a:r>
            <a:endParaRPr lang="en-IN" sz="2400" dirty="0"/>
          </a:p>
          <a:p>
            <a:r>
              <a:rPr lang="en-IN" sz="2400" dirty="0"/>
              <a:t>Dataset: </a:t>
            </a:r>
            <a:r>
              <a:rPr lang="en-IN" sz="2400" i="1" dirty="0"/>
              <a:t>Sleep Health and Lifestyle Dataset</a:t>
            </a:r>
            <a:r>
              <a:rPr lang="en-IN" sz="2400" dirty="0"/>
              <a:t> (400 records, 13 attributes) from Kaggle.</a:t>
            </a:r>
          </a:p>
          <a:p>
            <a:r>
              <a:rPr lang="en-IN" sz="2400" dirty="0"/>
              <a:t>Includes demographic, lifestyle, and physiological features like sleep duration, stress level, and blood pressure.</a:t>
            </a:r>
          </a:p>
          <a:p>
            <a:r>
              <a:rPr lang="en-IN" sz="2400" b="1" dirty="0"/>
              <a:t>Step 2: Data Preprocessing</a:t>
            </a:r>
            <a:endParaRPr lang="en-IN" sz="2400" dirty="0"/>
          </a:p>
          <a:p>
            <a:r>
              <a:rPr lang="en-IN" sz="2400" dirty="0"/>
              <a:t>Label encoding for categorical attributes (Gender, Occupation, BMI Category, Sleep Disorder).</a:t>
            </a:r>
          </a:p>
          <a:p>
            <a:r>
              <a:rPr lang="en-IN" sz="2400" dirty="0"/>
              <a:t>Split “Blood Pressure” into </a:t>
            </a:r>
            <a:r>
              <a:rPr lang="en-IN" sz="2400" i="1" dirty="0"/>
              <a:t>Systolic</a:t>
            </a:r>
            <a:r>
              <a:rPr lang="en-IN" sz="2400" dirty="0"/>
              <a:t> and </a:t>
            </a:r>
            <a:r>
              <a:rPr lang="en-IN" sz="2400" i="1" dirty="0"/>
              <a:t>Diastolic</a:t>
            </a:r>
            <a:r>
              <a:rPr lang="en-IN" sz="2400" dirty="0"/>
              <a:t> values.</a:t>
            </a:r>
          </a:p>
          <a:p>
            <a:r>
              <a:rPr lang="en-IN" sz="2400" dirty="0"/>
              <a:t>Normalization using </a:t>
            </a:r>
            <a:r>
              <a:rPr lang="en-IN" sz="2400" i="1" dirty="0" err="1"/>
              <a:t>StandardScaler</a:t>
            </a:r>
            <a:r>
              <a:rPr lang="en-IN" sz="2400" dirty="0"/>
              <a:t> to ensure uniform scaling.</a:t>
            </a:r>
          </a:p>
          <a:p>
            <a:r>
              <a:rPr lang="en-IN" sz="2400" dirty="0"/>
              <a:t>Dataset divided into </a:t>
            </a:r>
            <a:r>
              <a:rPr lang="en-IN" sz="2400" i="1" dirty="0"/>
              <a:t>70% training</a:t>
            </a:r>
            <a:r>
              <a:rPr lang="en-IN" sz="2400" dirty="0"/>
              <a:t> and </a:t>
            </a:r>
            <a:r>
              <a:rPr lang="en-IN" sz="2400" i="1" dirty="0"/>
              <a:t>30% testing</a:t>
            </a:r>
            <a:r>
              <a:rPr lang="en-IN" sz="2400" dirty="0"/>
              <a:t> subsets.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576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464" y="-145864"/>
            <a:ext cx="10173182" cy="1128009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02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839D7-C322-78C3-230F-3B6D4C28B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2354" y="591597"/>
            <a:ext cx="10601446" cy="622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Pre-Processing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IN" b="1" dirty="0"/>
              <a:t>Step 3: Model Development</a:t>
            </a:r>
            <a:endParaRPr lang="en-IN" dirty="0"/>
          </a:p>
          <a:p>
            <a:r>
              <a:rPr lang="en-IN" dirty="0"/>
              <a:t>Implemented three models:</a:t>
            </a:r>
          </a:p>
          <a:p>
            <a:pPr lvl="1"/>
            <a:r>
              <a:rPr lang="en-IN" b="1" dirty="0"/>
              <a:t>Artificial Neural Network (ANN)</a:t>
            </a:r>
            <a:endParaRPr lang="en-IN" dirty="0"/>
          </a:p>
          <a:p>
            <a:pPr lvl="1"/>
            <a:r>
              <a:rPr lang="en-IN" b="1" dirty="0"/>
              <a:t>Random Forest Classifier</a:t>
            </a:r>
            <a:endParaRPr lang="en-IN" dirty="0"/>
          </a:p>
          <a:p>
            <a:pPr lvl="1"/>
            <a:r>
              <a:rPr lang="en-IN" b="1" dirty="0" err="1"/>
              <a:t>XGBoost</a:t>
            </a:r>
            <a:r>
              <a:rPr lang="en-IN" b="1" dirty="0"/>
              <a:t> Classifier</a:t>
            </a:r>
            <a:endParaRPr lang="en-IN" dirty="0"/>
          </a:p>
          <a:p>
            <a:r>
              <a:rPr lang="en-IN" b="1" dirty="0"/>
              <a:t>Step 4: Optimization</a:t>
            </a:r>
            <a:endParaRPr lang="en-IN" dirty="0"/>
          </a:p>
          <a:p>
            <a:r>
              <a:rPr lang="en-IN" dirty="0"/>
              <a:t>Used </a:t>
            </a:r>
            <a:r>
              <a:rPr lang="en-IN" b="1" dirty="0"/>
              <a:t>Genetic Algorithm (GA)</a:t>
            </a:r>
            <a:r>
              <a:rPr lang="en-IN" dirty="0"/>
              <a:t> for hyperparameter tuning to improve ANN accuracy and prevent overfitting.</a:t>
            </a:r>
          </a:p>
          <a:p>
            <a:r>
              <a:rPr lang="en-IN" b="1" dirty="0"/>
              <a:t>Step 5: Evaluation</a:t>
            </a:r>
            <a:endParaRPr lang="en-IN" dirty="0"/>
          </a:p>
          <a:p>
            <a:r>
              <a:rPr lang="en-IN" dirty="0"/>
              <a:t>Metrics: </a:t>
            </a:r>
            <a:r>
              <a:rPr lang="en-IN" i="1" dirty="0"/>
              <a:t>Accuracy, Precision, Recall, F1-score, and Confusion Matrix</a:t>
            </a:r>
            <a:r>
              <a:rPr lang="en-IN" dirty="0"/>
              <a:t>.</a:t>
            </a:r>
          </a:p>
          <a:p>
            <a:r>
              <a:rPr lang="en-IN" dirty="0"/>
              <a:t>Compared results across all models to determine the most efficient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59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 01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839D7-C322-78C3-230F-3B6D4C28B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309" y="3225839"/>
            <a:ext cx="1089177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altLang="en-US" sz="18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512F34-0CAF-6CA3-B499-499FDD155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823813"/>
            <a:ext cx="11088647" cy="3210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11594F-B440-E4C4-E1FF-98B28EB3B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823813"/>
            <a:ext cx="11088647" cy="32103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5792D2-BC8E-3000-5CE2-5EAA7BC79BE2}"/>
              </a:ext>
            </a:extLst>
          </p:cNvPr>
          <p:cNvSpPr txBox="1"/>
          <p:nvPr/>
        </p:nvSpPr>
        <p:spPr>
          <a:xfrm>
            <a:off x="518517" y="1308468"/>
            <a:ext cx="7040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 From The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708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1367680" y="870273"/>
            <a:ext cx="9144000" cy="88251"/>
          </a:xfrm>
        </p:spPr>
        <p:txBody>
          <a:bodyPr>
            <a:noAutofit/>
          </a:bodyPr>
          <a:lstStyle/>
          <a:p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Framework:- Artificial Neural Network(ANN)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1175972" y="1022919"/>
            <a:ext cx="10208654" cy="5125792"/>
          </a:xfrm>
        </p:spPr>
        <p:txBody>
          <a:bodyPr>
            <a:normAutofit/>
          </a:bodyPr>
          <a:lstStyle/>
          <a:p>
            <a:r>
              <a:rPr lang="en-US" sz="2000" b="1" dirty="0"/>
              <a:t>Why Artificial Neural Network (ANN)?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ANN mimics the structure and learning process of the human brain, making it highly suitable for </a:t>
            </a:r>
            <a:r>
              <a:rPr lang="en-US" sz="2000" b="1" dirty="0"/>
              <a:t>pattern recognition tasks</a:t>
            </a:r>
            <a:r>
              <a:rPr lang="en-US" sz="2000" dirty="0"/>
              <a:t> such as sleep disorder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Capable of modeling </a:t>
            </a:r>
            <a:r>
              <a:rPr lang="en-US" sz="2000" b="1" dirty="0"/>
              <a:t>non-linear relationships</a:t>
            </a:r>
            <a:r>
              <a:rPr lang="en-US" sz="2000" dirty="0"/>
              <a:t> between multiple health and lifestyle features.</a:t>
            </a:r>
          </a:p>
          <a:p>
            <a:pPr algn="l"/>
            <a:br>
              <a:rPr lang="en-US" sz="2200" dirty="0"/>
            </a:br>
            <a:endParaRPr lang="en-US" sz="2200" dirty="0"/>
          </a:p>
          <a:p>
            <a:pPr algn="l"/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en-US" sz="2000" dirty="0"/>
          </a:p>
          <a:p>
            <a:pPr algn="l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01        Batch No. DB 15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17</a:t>
            </a:fld>
            <a:endParaRPr lang="en-IN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7601"/>
              </p:ext>
            </p:extLst>
          </p:nvPr>
        </p:nvGraphicFramePr>
        <p:xfrm>
          <a:off x="1810358" y="2515019"/>
          <a:ext cx="9144000" cy="1918041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Layer(Type)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Shape</a:t>
                      </a:r>
                      <a:endParaRPr lang="en-IN" sz="2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 #</a:t>
                      </a:r>
                      <a:endParaRPr lang="en-IN" sz="2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35">
                <a:tc>
                  <a:txBody>
                    <a:bodyPr/>
                    <a:lstStyle/>
                    <a:p>
                      <a:r>
                        <a:rPr lang="en-IN" sz="2000" dirty="0"/>
                        <a:t>dense (Dense)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(None,128)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1,792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702">
                <a:tc>
                  <a:txBody>
                    <a:bodyPr/>
                    <a:lstStyle/>
                    <a:p>
                      <a:r>
                        <a:rPr lang="en-IN" sz="2000" dirty="0"/>
                        <a:t>dropout (Dropout)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(None, 128)   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0  </a:t>
                      </a:r>
                      <a:endParaRPr lang="en-IN" sz="2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16">
                <a:tc>
                  <a:txBody>
                    <a:bodyPr/>
                    <a:lstStyle/>
                    <a:p>
                      <a:r>
                        <a:rPr lang="en-IN" sz="2000" dirty="0"/>
                        <a:t>dense_1 (Dense)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(None, 64)                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8,256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77">
                <a:tc>
                  <a:txBody>
                    <a:bodyPr/>
                    <a:lstStyle/>
                    <a:p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Dropout_1 (Dropout) 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(None, 64)       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0  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462">
                <a:tc>
                  <a:txBody>
                    <a:bodyPr/>
                    <a:lstStyle/>
                    <a:p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dense_2(Dense)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(None, 32)   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682467" y="4980496"/>
            <a:ext cx="2863849" cy="5288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/>
              <a:t>y=f(</a:t>
            </a:r>
            <a:r>
              <a:rPr lang="en-IN" sz="2400" dirty="0" err="1"/>
              <a:t>i</a:t>
            </a:r>
            <a:r>
              <a:rPr lang="en-IN" sz="2400" dirty="0"/>
              <a:t>=1∑n​</a:t>
            </a:r>
            <a:r>
              <a:rPr lang="en-IN" sz="2400" dirty="0" err="1"/>
              <a:t>wi</a:t>
            </a:r>
            <a:r>
              <a:rPr lang="en-IN" sz="2400" dirty="0"/>
              <a:t>​xi​+b)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993296" y="4980495"/>
            <a:ext cx="2778124" cy="5288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 err="1"/>
              <a:t>ReLU</a:t>
            </a:r>
            <a:r>
              <a:rPr lang="en-IN" sz="2400" b="1" dirty="0"/>
              <a:t>(x)</a:t>
            </a:r>
            <a:r>
              <a:rPr lang="en-IN" sz="2400" dirty="0"/>
              <a:t> = max(0, x</a:t>
            </a:r>
            <a:r>
              <a:rPr lang="en-IN" sz="1100" dirty="0"/>
              <a:t>)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8107363" y="4784889"/>
            <a:ext cx="2941320" cy="8686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br>
              <a:rPr lang="en-IN" sz="2400" kern="1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b="1" dirty="0" err="1"/>
              <a:t>Softmax</a:t>
            </a:r>
            <a:r>
              <a:rPr lang="en-IN" sz="2400" b="1" dirty="0"/>
              <a:t>(xᵢ)</a:t>
            </a:r>
            <a:r>
              <a:rPr lang="en-IN" sz="2400" dirty="0"/>
              <a:t> = exp(xᵢ) 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80"/>
            <a:ext cx="3762900" cy="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1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9263"/>
            <a:ext cx="10515600" cy="81870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18</a:t>
            </a:fld>
            <a:endParaRPr lang="en-IN"/>
          </a:p>
        </p:txBody>
      </p:sp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6E71C6D5-3763-F643-CFC5-25AEF4804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87" y="1183832"/>
            <a:ext cx="10587584" cy="4870604"/>
          </a:xfrm>
        </p:spPr>
      </p:pic>
    </p:spTree>
    <p:extLst>
      <p:ext uri="{BB962C8B-B14F-4D97-AF65-F5344CB8AC3E}">
        <p14:creationId xmlns:p14="http://schemas.microsoft.com/office/powerpoint/2010/main" val="3365864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7700"/>
            <a:ext cx="105156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700"/>
            <a:ext cx="10871200" cy="4894263"/>
          </a:xfrm>
        </p:spPr>
        <p:txBody>
          <a:bodyPr>
            <a:normAutofit fontScale="92500" lnSpcReduction="10000"/>
          </a:bodyPr>
          <a:lstStyle/>
          <a:p>
            <a:pPr>
              <a:buNone/>
              <a:tabLst>
                <a:tab pos="3860800" algn="l"/>
                <a:tab pos="5473700" algn="l"/>
              </a:tabLst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104140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	:	intel Core i3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179070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	:	4MB(Megabyte)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	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12.7GB (gigabyte)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166.8GB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Engine      	:	 T4 GPU</a:t>
            </a:r>
          </a:p>
          <a:p>
            <a:pPr lvl="0">
              <a:buNone/>
              <a:tabLst>
                <a:tab pos="3860800" algn="l"/>
                <a:tab pos="5473700" algn="l"/>
              </a:tabLst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Windows 10, 64-bit Operating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Python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distribution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	Google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 , Flask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tabLst>
                <a:tab pos="3860800" algn="l"/>
                <a:tab pos="5473700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	: 	Any Latest Browser like Chrome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97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0700"/>
            <a:ext cx="10515600" cy="787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 Vs Overcomes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774588"/>
              </p:ext>
            </p:extLst>
          </p:nvPr>
        </p:nvGraphicFramePr>
        <p:xfrm>
          <a:off x="838200" y="1308100"/>
          <a:ext cx="10515600" cy="49428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Faced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Solutions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Implemented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Overfitting Due to Small Dataset</a:t>
                      </a:r>
                      <a:r>
                        <a:rPr lang="en-US" dirty="0"/>
                        <a:t> – Limited data (400 records) led to high training accuracy but poor generalization.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Regularization &amp; Dropout Layers</a:t>
                      </a:r>
                      <a:r>
                        <a:rPr lang="en-US" dirty="0"/>
                        <a:t> – Added dropout layers in ANN and applied early stopping to prevent overfitting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Limited Computational Resources</a:t>
                      </a:r>
                      <a:r>
                        <a:rPr lang="en-US" dirty="0"/>
                        <a:t> – Deep learning models required high processing power for optimization and tuning.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GPU Utilization (Google Colab T4)</a:t>
                      </a:r>
                      <a:r>
                        <a:rPr lang="en-US" dirty="0"/>
                        <a:t> – Leveraged GPU-accelerated training to significantly reduce computation time.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 Imbalance in Sleep Disorder Categories</a:t>
                      </a:r>
                      <a:r>
                        <a:rPr lang="en-US" dirty="0"/>
                        <a:t> – Fewer records for Insomnia and Sleep Apnea compared to “None.”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Class Balancing</a:t>
                      </a:r>
                      <a:r>
                        <a:rPr lang="en-US" dirty="0"/>
                        <a:t> – Applied class weighting and oversampling techniques to maintain equal representation during training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Data Variability and Noise</a:t>
                      </a:r>
                      <a:r>
                        <a:rPr lang="en-US" dirty="0"/>
                        <a:t> – Lifestyle features like stress, occupation, and sleep duration had subjective variance.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Feature Normalization</a:t>
                      </a:r>
                      <a:r>
                        <a:rPr lang="en-US" dirty="0"/>
                        <a:t> – Used </a:t>
                      </a:r>
                      <a:r>
                        <a:rPr lang="en-US" dirty="0" err="1"/>
                        <a:t>StandardScaler</a:t>
                      </a:r>
                      <a:r>
                        <a:rPr lang="en-US" dirty="0"/>
                        <a:t> for consistent feature scaling and cleaned outliers for stable learning.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Interpretability</a:t>
                      </a:r>
                      <a:r>
                        <a:rPr lang="en-US" dirty="0"/>
                        <a:t> – Deep learning models lacked explainability for medical understanding.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Evaluation Metrics and Confusion Matrix</a:t>
                      </a:r>
                      <a:r>
                        <a:rPr lang="en-US" dirty="0"/>
                        <a:t> – Provided clear performance reports and class-level analysis for better interpretability.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4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2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Frontend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21</a:t>
            </a:fld>
            <a:endParaRPr lang="en-IN" dirty="0"/>
          </a:p>
        </p:txBody>
      </p:sp>
      <p:pic>
        <p:nvPicPr>
          <p:cNvPr id="10" name="Content Placeholder 9" descr="A screenshot of a sleep disorder detection&#10;&#10;AI-generated content may be incorrect.">
            <a:extLst>
              <a:ext uri="{FF2B5EF4-FFF2-40B4-BE49-F238E27FC236}">
                <a16:creationId xmlns:a16="http://schemas.microsoft.com/office/drawing/2014/main" id="{1B78527E-B092-0E28-A67A-CCF703325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546" y="1027906"/>
            <a:ext cx="9279525" cy="5212484"/>
          </a:xfrm>
        </p:spPr>
      </p:pic>
    </p:spTree>
    <p:extLst>
      <p:ext uri="{BB962C8B-B14F-4D97-AF65-F5344CB8AC3E}">
        <p14:creationId xmlns:p14="http://schemas.microsoft.com/office/powerpoint/2010/main" val="937651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8EAB4-1C9A-C72C-80D6-E9C47FE5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EEC6-0141-45B7-8835-252B848F88BA}" type="datetime1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B79B9-1AD4-9895-7876-196EE4B7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01        Batch No.   DB15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FEAAD-BD80-9A5E-D039-4CA640FD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22</a:t>
            </a:fld>
            <a:endParaRPr lang="en-IN"/>
          </a:p>
        </p:txBody>
      </p:sp>
      <p:pic>
        <p:nvPicPr>
          <p:cNvPr id="6" name="Picture 5" descr="A screenshot of a sleep disorder test&#10;&#10;AI-generated content may be incorrect.">
            <a:extLst>
              <a:ext uri="{FF2B5EF4-FFF2-40B4-BE49-F238E27FC236}">
                <a16:creationId xmlns:a16="http://schemas.microsoft.com/office/drawing/2014/main" id="{F14C6547-FA5D-7536-EC48-867327159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69" y="933558"/>
            <a:ext cx="9254359" cy="5241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1E8623-88DB-1037-D5B9-78ED42192B4C}"/>
              </a:ext>
            </a:extLst>
          </p:cNvPr>
          <p:cNvSpPr txBox="1"/>
          <p:nvPr/>
        </p:nvSpPr>
        <p:spPr>
          <a:xfrm>
            <a:off x="4038600" y="229273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Frontend</a:t>
            </a:r>
            <a:endParaRPr lang="en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998AFA-B891-69FA-B2F1-37832F3E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2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5118"/>
            <a:ext cx="10515600" cy="72614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23</a:t>
            </a:fld>
            <a:endParaRPr lang="en-IN"/>
          </a:p>
        </p:txBody>
      </p:sp>
      <p:graphicFrame>
        <p:nvGraphicFramePr>
          <p:cNvPr id="27" name="Content Placeholder 2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268752"/>
              </p:ext>
            </p:extLst>
          </p:nvPr>
        </p:nvGraphicFramePr>
        <p:xfrm>
          <a:off x="838199" y="1331260"/>
          <a:ext cx="10259290" cy="280550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1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1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314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41">
                <a:tc>
                  <a:txBody>
                    <a:bodyPr/>
                    <a:lstStyle/>
                    <a:p>
                      <a:r>
                        <a:rPr lang="en-IN" sz="2000" dirty="0"/>
                        <a:t>Artificial Neural Network (ANN)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94.17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94.0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93.5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93.7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41">
                <a:tc>
                  <a:txBody>
                    <a:bodyPr/>
                    <a:lstStyle/>
                    <a:p>
                      <a:r>
                        <a:rPr lang="en-IN" sz="2000" dirty="0" err="1"/>
                        <a:t>XGBoost</a:t>
                      </a:r>
                      <a:r>
                        <a:rPr lang="en-IN" sz="2000" dirty="0"/>
                        <a:t> Classifier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92.50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92.0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91.8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41">
                <a:tc>
                  <a:txBody>
                    <a:bodyPr/>
                    <a:lstStyle/>
                    <a:p>
                      <a:r>
                        <a:rPr lang="en-IN" sz="2000" dirty="0"/>
                        <a:t>Random Forest Classifier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91.67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90.8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314"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1CA4336-1CA6-BF04-1C55-9373DE78CB25}"/>
              </a:ext>
            </a:extLst>
          </p:cNvPr>
          <p:cNvSpPr txBox="1"/>
          <p:nvPr/>
        </p:nvSpPr>
        <p:spPr>
          <a:xfrm>
            <a:off x="838199" y="4313890"/>
            <a:ext cx="101484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ANN model achieved the highest performance across all metrics — showing superior ability to capture complex non-linear </a:t>
            </a:r>
            <a:r>
              <a:rPr lang="en-US" sz="2400" dirty="0" err="1"/>
              <a:t>relationships.XGBoost</a:t>
            </a:r>
            <a:r>
              <a:rPr lang="en-US" sz="2400" dirty="0"/>
              <a:t> and Random Forest also performed well, with consistent results and high </a:t>
            </a:r>
            <a:r>
              <a:rPr lang="en-US" sz="2400" dirty="0" err="1"/>
              <a:t>reliability.The</a:t>
            </a:r>
            <a:r>
              <a:rPr lang="en-US" sz="2400" dirty="0"/>
              <a:t> balanced precision and recall values indicate that the model is not biased toward any one class.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07255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24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64610" y="1573357"/>
            <a:ext cx="481404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graph shows that the training and validation accuracies of the </a:t>
            </a:r>
            <a:r>
              <a:rPr lang="en-US" sz="2400" b="1" dirty="0"/>
              <a:t>ANN model</a:t>
            </a:r>
            <a:r>
              <a:rPr lang="en-US" sz="2400" dirty="0"/>
              <a:t> rise steadily, reaching around </a:t>
            </a:r>
            <a:r>
              <a:rPr lang="en-US" sz="2400" b="1" dirty="0"/>
              <a:t>94%</a:t>
            </a:r>
            <a:r>
              <a:rPr lang="en-US" sz="2400" dirty="0"/>
              <a:t> by 10 epochs.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close alignment of both curves indicates </a:t>
            </a:r>
            <a:r>
              <a:rPr lang="en-US" sz="2400" b="1" dirty="0" err="1"/>
              <a:t>goodgeneralization</a:t>
            </a:r>
            <a:r>
              <a:rPr lang="en-US" sz="2400" dirty="0"/>
              <a:t> without overfitting.</a:t>
            </a:r>
          </a:p>
          <a:p>
            <a:pPr algn="just"/>
            <a:endParaRPr lang="en-US" sz="2400" dirty="0"/>
          </a:p>
          <a:p>
            <a:pPr algn="just"/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A graph showing the growth of a number of individuals">
            <a:extLst>
              <a:ext uri="{FF2B5EF4-FFF2-40B4-BE49-F238E27FC236}">
                <a16:creationId xmlns:a16="http://schemas.microsoft.com/office/drawing/2014/main" id="{73B6FAC4-BFBD-2775-0AA7-8DC37245C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298" y="1573357"/>
            <a:ext cx="5560506" cy="3435061"/>
          </a:xfrm>
        </p:spPr>
      </p:pic>
    </p:spTree>
    <p:extLst>
      <p:ext uri="{BB962C8B-B14F-4D97-AF65-F5344CB8AC3E}">
        <p14:creationId xmlns:p14="http://schemas.microsoft.com/office/powerpoint/2010/main" val="3153372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0306"/>
            <a:ext cx="10515600" cy="90095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25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70647" y="1781175"/>
            <a:ext cx="498885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graph shows a continuous reduction in both training and validation losses over epochs.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Both curves converge near </a:t>
            </a:r>
            <a:r>
              <a:rPr lang="en-US" sz="2400" b="1" dirty="0"/>
              <a:t>0.15</a:t>
            </a:r>
            <a:r>
              <a:rPr lang="en-US" sz="2400" dirty="0"/>
              <a:t>, demonstrating stable model  convergence.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Validation loss is consistently lower than training loss  a strong indicator of </a:t>
            </a:r>
            <a:r>
              <a:rPr lang="en-US" sz="2400" b="1" dirty="0"/>
              <a:t>good generalization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A graph with green and orange lines">
            <a:extLst>
              <a:ext uri="{FF2B5EF4-FFF2-40B4-BE49-F238E27FC236}">
                <a16:creationId xmlns:a16="http://schemas.microsoft.com/office/drawing/2014/main" id="{FCF62E65-9EE5-AF40-37A7-59E9A645C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47" y="1781175"/>
            <a:ext cx="5787306" cy="3552825"/>
          </a:xfrm>
        </p:spPr>
      </p:pic>
    </p:spTree>
    <p:extLst>
      <p:ext uri="{BB962C8B-B14F-4D97-AF65-F5344CB8AC3E}">
        <p14:creationId xmlns:p14="http://schemas.microsoft.com/office/powerpoint/2010/main" val="1761017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3524"/>
            <a:ext cx="10515600" cy="90095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26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37" y="1425175"/>
            <a:ext cx="5463987" cy="400764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dirty="0"/>
              <a:t>The graph shows that the </a:t>
            </a:r>
            <a:r>
              <a:rPr lang="en-US" b="1" dirty="0"/>
              <a:t>T4 GPU</a:t>
            </a:r>
            <a:r>
              <a:rPr lang="en-US" dirty="0"/>
              <a:t> significantly reduces training time per epoch compared to the </a:t>
            </a:r>
            <a:r>
              <a:rPr lang="en-US" b="1" dirty="0"/>
              <a:t>CPU</a:t>
            </a:r>
            <a:r>
              <a:rPr lang="en-US" dirty="0"/>
              <a:t>, enabling faster model development and testing.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GPU acceleration enhances overall efficiency, especially during hyperparameter tuning using </a:t>
            </a:r>
            <a:r>
              <a:rPr lang="en-IN" b="1" dirty="0"/>
              <a:t>Genetic Algorithm optimization</a:t>
            </a:r>
            <a:r>
              <a:rPr lang="en-IN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graph with blue and orange lines">
            <a:extLst>
              <a:ext uri="{FF2B5EF4-FFF2-40B4-BE49-F238E27FC236}">
                <a16:creationId xmlns:a16="http://schemas.microsoft.com/office/drawing/2014/main" id="{0A141756-478B-1B8B-0BD0-93678CDF9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938" y="1425175"/>
            <a:ext cx="5001323" cy="390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5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27</a:t>
            </a:fld>
            <a:endParaRPr lang="en-IN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1570" y="1732494"/>
            <a:ext cx="11040035" cy="512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b="1" dirty="0"/>
              <a:t>Conclusion:</a:t>
            </a:r>
            <a:endParaRPr lang="en-IN" sz="2400" dirty="0"/>
          </a:p>
          <a:p>
            <a:pPr algn="just"/>
            <a:r>
              <a:rPr lang="en-IN" sz="2400" dirty="0"/>
              <a:t>ANN model outperformed traditional classifiers.</a:t>
            </a:r>
          </a:p>
          <a:p>
            <a:pPr algn="just"/>
            <a:r>
              <a:rPr lang="en-IN" sz="2400" dirty="0"/>
              <a:t>Demonstrated efficiency of GA-optimized deep learning in healthcare analytics.</a:t>
            </a:r>
          </a:p>
          <a:p>
            <a:pPr algn="just"/>
            <a:r>
              <a:rPr lang="en-IN" sz="2400" dirty="0"/>
              <a:t>Supports real-time, automated diagnosis of sleep disorders.</a:t>
            </a:r>
          </a:p>
          <a:p>
            <a:pPr algn="just"/>
            <a:r>
              <a:rPr lang="en-IN" sz="2400" b="1" dirty="0"/>
              <a:t>Future Scope:</a:t>
            </a:r>
            <a:endParaRPr lang="en-IN" sz="2400" dirty="0"/>
          </a:p>
          <a:p>
            <a:pPr algn="just"/>
            <a:r>
              <a:rPr lang="en-IN" sz="2400" dirty="0"/>
              <a:t>Integration with </a:t>
            </a:r>
            <a:r>
              <a:rPr lang="en-IN" sz="2400" b="1" dirty="0"/>
              <a:t>EEG and PSG signals</a:t>
            </a:r>
            <a:r>
              <a:rPr lang="en-IN" sz="2400" dirty="0"/>
              <a:t> for improved accuracy.</a:t>
            </a:r>
          </a:p>
          <a:p>
            <a:pPr algn="just"/>
            <a:r>
              <a:rPr lang="en-IN" sz="2400" b="1" dirty="0"/>
              <a:t>Deployment on wearable devices</a:t>
            </a:r>
            <a:r>
              <a:rPr lang="en-IN" sz="2400" dirty="0"/>
              <a:t> for continuous monitoring.</a:t>
            </a:r>
          </a:p>
          <a:p>
            <a:pPr algn="just"/>
            <a:r>
              <a:rPr lang="en-IN" sz="2400" dirty="0"/>
              <a:t>Incorporate </a:t>
            </a:r>
            <a:r>
              <a:rPr lang="en-IN" sz="2400" b="1" dirty="0"/>
              <a:t>explainable AI (SHAP/LIME)</a:t>
            </a:r>
            <a:r>
              <a:rPr lang="en-IN" sz="2400" dirty="0"/>
              <a:t> for better interpretability.</a:t>
            </a:r>
          </a:p>
          <a:p>
            <a:pPr algn="just"/>
            <a:r>
              <a:rPr lang="en-IN" sz="2400" dirty="0"/>
              <a:t>Real-time implementation in </a:t>
            </a:r>
            <a:r>
              <a:rPr lang="en-IN" sz="2400" b="1" dirty="0"/>
              <a:t>telemedicine systems</a:t>
            </a:r>
            <a:r>
              <a:rPr lang="en-IN" sz="2400" dirty="0"/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655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03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843"/>
            <a:ext cx="10515600" cy="4594004"/>
          </a:xfrm>
        </p:spPr>
        <p:txBody>
          <a:bodyPr>
            <a:noAutofit/>
          </a:bodyPr>
          <a:lstStyle/>
          <a:p>
            <a:pPr algn="just"/>
            <a:r>
              <a:rPr lang="en-IN" sz="1400" dirty="0"/>
              <a:t> </a:t>
            </a:r>
            <a:r>
              <a:rPr lang="en-IN" sz="1400" b="1" dirty="0"/>
              <a:t>Y. Zan and O. Yildiz</a:t>
            </a:r>
            <a:r>
              <a:rPr lang="en-IN" sz="1400" dirty="0"/>
              <a:t>, </a:t>
            </a:r>
            <a:r>
              <a:rPr lang="en-IN" sz="1400" i="1" dirty="0"/>
              <a:t>“</a:t>
            </a:r>
            <a:r>
              <a:rPr lang="en-IN" sz="1400" i="1" dirty="0" err="1"/>
              <a:t>FullSleepNet</a:t>
            </a:r>
            <a:r>
              <a:rPr lang="en-IN" sz="1400" i="1" dirty="0"/>
              <a:t>: A Fully Convolutional Multi-Task Network for Arousal Detection and Sleep Stage Classification,”</a:t>
            </a:r>
            <a:r>
              <a:rPr lang="en-IN" sz="1400" dirty="0"/>
              <a:t> </a:t>
            </a:r>
            <a:r>
              <a:rPr lang="en-IN" sz="1400" b="1" dirty="0" err="1"/>
              <a:t>arXiv</a:t>
            </a:r>
            <a:r>
              <a:rPr lang="en-IN" sz="1400" b="1" dirty="0"/>
              <a:t> preprint arXiv:2406.01834</a:t>
            </a:r>
            <a:r>
              <a:rPr lang="en-IN" sz="1400" dirty="0"/>
              <a:t>, 2024.</a:t>
            </a:r>
          </a:p>
          <a:p>
            <a:pPr algn="just"/>
            <a:r>
              <a:rPr lang="en-IN" sz="1400" dirty="0"/>
              <a:t>Proposed CNN-based model for both arousal and sleep stage detection using EEG signals.</a:t>
            </a:r>
          </a:p>
          <a:p>
            <a:pPr algn="just"/>
            <a:r>
              <a:rPr lang="en-IN" sz="1400" dirty="0"/>
              <a:t> </a:t>
            </a:r>
            <a:r>
              <a:rPr lang="en-IN" sz="1400" b="1" dirty="0"/>
              <a:t>M. Mohammadi and H. Mohammadi</a:t>
            </a:r>
            <a:r>
              <a:rPr lang="en-IN" sz="1400" dirty="0"/>
              <a:t>, </a:t>
            </a:r>
            <a:r>
              <a:rPr lang="en-IN" sz="1400" i="1" dirty="0"/>
              <a:t>“</a:t>
            </a:r>
            <a:r>
              <a:rPr lang="en-IN" sz="1400" i="1" dirty="0" err="1"/>
              <a:t>SleepLiteCNN</a:t>
            </a:r>
            <a:r>
              <a:rPr lang="en-IN" sz="1400" i="1" dirty="0"/>
              <a:t>: Energy-Efficient Sleep </a:t>
            </a:r>
            <a:r>
              <a:rPr lang="en-IN" sz="1400" i="1" dirty="0" err="1"/>
              <a:t>Apnea</a:t>
            </a:r>
            <a:r>
              <a:rPr lang="en-IN" sz="1400" i="1" dirty="0"/>
              <a:t> Subtype Classification Using Single-Lead ECG,”</a:t>
            </a:r>
            <a:r>
              <a:rPr lang="en-IN" sz="1400" dirty="0"/>
              <a:t> </a:t>
            </a:r>
            <a:r>
              <a:rPr lang="en-IN" sz="1400" b="1" dirty="0" err="1"/>
              <a:t>arXiv</a:t>
            </a:r>
            <a:r>
              <a:rPr lang="en-IN" sz="1400" b="1" dirty="0"/>
              <a:t> preprint arXiv:2508.02718</a:t>
            </a:r>
            <a:r>
              <a:rPr lang="en-IN" sz="1400" dirty="0"/>
              <a:t>, 2025.</a:t>
            </a:r>
          </a:p>
          <a:p>
            <a:pPr algn="just"/>
            <a:r>
              <a:rPr lang="en-IN" sz="1400" dirty="0"/>
              <a:t>Introduced lightweight CNN architecture for wearable devices.</a:t>
            </a:r>
          </a:p>
          <a:p>
            <a:pPr algn="just"/>
            <a:r>
              <a:rPr lang="en-IN" sz="1400" dirty="0"/>
              <a:t> </a:t>
            </a:r>
            <a:r>
              <a:rPr lang="en-IN" sz="1400" b="1" dirty="0"/>
              <a:t>J. Papillon et al.</a:t>
            </a:r>
            <a:r>
              <a:rPr lang="en-IN" sz="1400" dirty="0"/>
              <a:t>, </a:t>
            </a:r>
            <a:r>
              <a:rPr lang="en-IN" sz="1400" i="1" dirty="0"/>
              <a:t>“Sleep Position Classification Using Transfer Learning with Vision Transformers,”</a:t>
            </a:r>
            <a:r>
              <a:rPr lang="en-IN" sz="1400" dirty="0"/>
              <a:t> </a:t>
            </a:r>
            <a:r>
              <a:rPr lang="en-IN" sz="1400" b="1" dirty="0" err="1"/>
              <a:t>arXiv</a:t>
            </a:r>
            <a:r>
              <a:rPr lang="en-IN" sz="1400" b="1" dirty="0"/>
              <a:t> preprint arXiv:2505.08111</a:t>
            </a:r>
            <a:r>
              <a:rPr lang="en-IN" sz="1400" dirty="0"/>
              <a:t>, 2025.</a:t>
            </a:r>
          </a:p>
          <a:p>
            <a:pPr algn="just"/>
            <a:r>
              <a:rPr lang="en-IN" sz="1400" dirty="0"/>
              <a:t>Demonstrated improved performance for non-intrusive sleep monitoring using </a:t>
            </a:r>
            <a:r>
              <a:rPr lang="en-IN" sz="1400" dirty="0" err="1"/>
              <a:t>ViT</a:t>
            </a:r>
            <a:r>
              <a:rPr lang="en-IN" sz="1400" dirty="0"/>
              <a:t> models.</a:t>
            </a:r>
          </a:p>
          <a:p>
            <a:pPr algn="just"/>
            <a:r>
              <a:rPr lang="en-IN" sz="1400" dirty="0"/>
              <a:t> </a:t>
            </a:r>
            <a:r>
              <a:rPr lang="en-IN" sz="1400" b="1" dirty="0"/>
              <a:t>S. Kazemi et al.</a:t>
            </a:r>
            <a:r>
              <a:rPr lang="en-IN" sz="1400" dirty="0"/>
              <a:t>, </a:t>
            </a:r>
            <a:r>
              <a:rPr lang="en-IN" sz="1400" i="1" dirty="0"/>
              <a:t>“Multimodal Vision Transformer for Sleep Stage and </a:t>
            </a:r>
            <a:r>
              <a:rPr lang="en-IN" sz="1400" i="1" dirty="0" err="1"/>
              <a:t>Apnea</a:t>
            </a:r>
            <a:r>
              <a:rPr lang="en-IN" sz="1400" i="1" dirty="0"/>
              <a:t> Detection,”</a:t>
            </a:r>
            <a:r>
              <a:rPr lang="en-IN" sz="1400" dirty="0"/>
              <a:t> </a:t>
            </a:r>
            <a:r>
              <a:rPr lang="en-IN" sz="1400" b="1" dirty="0" err="1"/>
              <a:t>arXiv</a:t>
            </a:r>
            <a:r>
              <a:rPr lang="en-IN" sz="1400" b="1" dirty="0"/>
              <a:t> preprint arXiv:2502.17486</a:t>
            </a:r>
            <a:r>
              <a:rPr lang="en-IN" sz="1400" dirty="0"/>
              <a:t>, 2025.</a:t>
            </a:r>
          </a:p>
          <a:p>
            <a:pPr algn="just"/>
            <a:r>
              <a:rPr lang="en-IN" sz="1400" dirty="0"/>
              <a:t>Used multimodal data (PPG, respiration) for explainable sleep disorder detection.</a:t>
            </a:r>
          </a:p>
          <a:p>
            <a:pPr algn="just"/>
            <a:r>
              <a:rPr lang="en-IN" sz="1400" dirty="0"/>
              <a:t> </a:t>
            </a:r>
            <a:r>
              <a:rPr lang="en-IN" sz="1400" b="1" dirty="0"/>
              <a:t>M. </a:t>
            </a:r>
            <a:r>
              <a:rPr lang="en-IN" sz="1400" b="1" dirty="0" err="1"/>
              <a:t>Monowar</a:t>
            </a:r>
            <a:r>
              <a:rPr lang="en-IN" sz="1400" b="1" dirty="0"/>
              <a:t> et al.</a:t>
            </a:r>
            <a:r>
              <a:rPr lang="en-IN" sz="1400" dirty="0"/>
              <a:t>, </a:t>
            </a:r>
            <a:r>
              <a:rPr lang="en-IN" sz="1400" i="1" dirty="0"/>
              <a:t>“Multi-Layered Ensemble Learning with Data Balancing for Sleep Disorder Detection,”</a:t>
            </a:r>
            <a:r>
              <a:rPr lang="en-IN" sz="1400" dirty="0"/>
              <a:t> </a:t>
            </a:r>
            <a:r>
              <a:rPr lang="en-IN" sz="1400" i="1" dirty="0"/>
              <a:t>Frontiers in Artificial Intelligence</a:t>
            </a:r>
            <a:r>
              <a:rPr lang="en-IN" sz="1400" dirty="0"/>
              <a:t>, vol. 7, p. 1506770, 2024.</a:t>
            </a:r>
          </a:p>
          <a:p>
            <a:pPr algn="just"/>
            <a:r>
              <a:rPr lang="en-IN" sz="1400" dirty="0"/>
              <a:t>Achieved 99.5% accuracy using data balancing and ensemble methods.</a:t>
            </a:r>
          </a:p>
          <a:p>
            <a:pPr algn="just"/>
            <a:r>
              <a:rPr lang="en-IN" sz="1400" dirty="0"/>
              <a:t> </a:t>
            </a:r>
            <a:r>
              <a:rPr lang="en-IN" sz="1400" b="1" dirty="0"/>
              <a:t>T. Chen and C. </a:t>
            </a:r>
            <a:r>
              <a:rPr lang="en-IN" sz="1400" b="1" dirty="0" err="1"/>
              <a:t>Guestrin</a:t>
            </a:r>
            <a:r>
              <a:rPr lang="en-IN" sz="1400" dirty="0"/>
              <a:t>, </a:t>
            </a:r>
            <a:r>
              <a:rPr lang="en-IN" sz="1400" i="1" dirty="0"/>
              <a:t>“</a:t>
            </a:r>
            <a:r>
              <a:rPr lang="en-IN" sz="1400" i="1" dirty="0" err="1"/>
              <a:t>XGBoost</a:t>
            </a:r>
            <a:r>
              <a:rPr lang="en-IN" sz="1400" i="1" dirty="0"/>
              <a:t>: A Scalable Tree Boosting System,”</a:t>
            </a:r>
            <a:r>
              <a:rPr lang="en-IN" sz="1400" dirty="0"/>
              <a:t> </a:t>
            </a:r>
            <a:r>
              <a:rPr lang="en-IN" sz="1400" i="1" dirty="0"/>
              <a:t>Proceedings of the 22nd ACM SIGKDD International Conference on Knowledge Discovery and Data Mining</a:t>
            </a:r>
            <a:r>
              <a:rPr lang="en-IN" sz="1400" dirty="0"/>
              <a:t>, pp. 785–794, 2016.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012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ACKNOWLEDGEMENTS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65" y="1573306"/>
            <a:ext cx="11066929" cy="4783044"/>
          </a:xfrm>
        </p:spPr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sincere gratitude to the faculty and staff of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for their guidance and encouragement throughout the development of this project. Their insights and expertise have been invaluable.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extend our thanks to the administration for providing the necessary resources and a platform to showcase our work. This opportunity has been instrumental in enhancing our learning and growth.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questions or further discussions, feel free to reach out:-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Email: beesabattunisarathchandra@gmail.com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Phone: 7013567316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Email:saimanikanta723@gmail.com 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Phone:80085 18337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No.01         Batch </a:t>
            </a:r>
            <a:r>
              <a:rPr lang="en-US" dirty="0" err="1"/>
              <a:t>No.DB</a:t>
            </a:r>
            <a:r>
              <a:rPr lang="en-US" dirty="0"/>
              <a:t> 15    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99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F41DAF-77CE-312E-635C-997945EAD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707664"/>
            <a:ext cx="11776364" cy="5442672"/>
          </a:xfrm>
        </p:spPr>
      </p:pic>
    </p:spTree>
    <p:extLst>
      <p:ext uri="{BB962C8B-B14F-4D97-AF65-F5344CB8AC3E}">
        <p14:creationId xmlns:p14="http://schemas.microsoft.com/office/powerpoint/2010/main" val="2924977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11-11-2025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No.01         Batch No. DB 15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 descr="Questions Images For Presentation FreeBibleimages :: General images of  Jesus teaching">
            <a:extLst>
              <a:ext uri="{FF2B5EF4-FFF2-40B4-BE49-F238E27FC236}">
                <a16:creationId xmlns:a16="http://schemas.microsoft.com/office/drawing/2014/main" id="{84002187-0627-F570-D5BF-7FF27EF2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267" y="1112708"/>
            <a:ext cx="5014551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91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2751</Words>
  <Application>Microsoft Office PowerPoint</Application>
  <PresentationFormat>Widescreen</PresentationFormat>
  <Paragraphs>435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OUTLINE</vt:lpstr>
      <vt:lpstr>ABSTRACT</vt:lpstr>
      <vt:lpstr>INTRODUCTION</vt:lpstr>
      <vt:lpstr>LITERATURE SURVEY</vt:lpstr>
      <vt:lpstr>LITERATURE SURVEY</vt:lpstr>
      <vt:lpstr>LITERATURE SURVEY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METHODOLOGY</vt:lpstr>
      <vt:lpstr>METHODOLOGY</vt:lpstr>
      <vt:lpstr>                 Framework:- Artificial Neural Network(ANN)</vt:lpstr>
      <vt:lpstr>Implementation</vt:lpstr>
      <vt:lpstr>System Requirements</vt:lpstr>
      <vt:lpstr>Challenges  Vs Overcomes</vt:lpstr>
      <vt:lpstr>Implementation of Frontend</vt:lpstr>
      <vt:lpstr>PowerPoint Presentation</vt:lpstr>
      <vt:lpstr>              RESULTS &amp; ANALYSIS</vt:lpstr>
      <vt:lpstr>RESULTS &amp; ANALYSIS</vt:lpstr>
      <vt:lpstr>RESULTS &amp; ANALYSIS</vt:lpstr>
      <vt:lpstr>RESULTS &amp; ANALYSIS</vt:lpstr>
      <vt:lpstr>CONCLUSION &amp; FUTURE SCOPE</vt:lpstr>
      <vt:lpstr>REFERENCES</vt:lpstr>
      <vt:lpstr>            ACKNOWLEDGEMENTS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Saran Sai B, Jr Software Engineer</cp:lastModifiedBy>
  <cp:revision>131</cp:revision>
  <dcterms:created xsi:type="dcterms:W3CDTF">2023-12-22T11:34:02Z</dcterms:created>
  <dcterms:modified xsi:type="dcterms:W3CDTF">2025-12-17T05:42:43Z</dcterms:modified>
</cp:coreProperties>
</file>